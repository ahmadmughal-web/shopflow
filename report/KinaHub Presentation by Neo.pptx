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mo Bold" charset="1" panose="020B0704020202020204"/>
      <p:regular r:id="rId17"/>
    </p:embeddedFont>
    <p:embeddedFont>
      <p:font typeface="Arimo" charset="1" panose="020B0604020202020204"/>
      <p:regular r:id="rId18"/>
    </p:embeddedFont>
    <p:embeddedFont>
      <p:font typeface="Glegoo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3.png" Type="http://schemas.openxmlformats.org/officeDocument/2006/relationships/image"/><Relationship Id="rId5" Target="../media/image3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28576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428" t="0" r="-21428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35951" y="4933798"/>
            <a:ext cx="4609509" cy="2020491"/>
            <a:chOff x="0" y="0"/>
            <a:chExt cx="6146013" cy="26939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46038" cy="2693924"/>
            </a:xfrm>
            <a:custGeom>
              <a:avLst/>
              <a:gdLst/>
              <a:ahLst/>
              <a:cxnLst/>
              <a:rect r="r" b="b" t="t" l="l"/>
              <a:pathLst>
                <a:path h="2693924" w="6146038">
                  <a:moveTo>
                    <a:pt x="0" y="161036"/>
                  </a:moveTo>
                  <a:cubicBezTo>
                    <a:pt x="0" y="72136"/>
                    <a:pt x="72136" y="0"/>
                    <a:pt x="161036" y="0"/>
                  </a:cubicBezTo>
                  <a:lnTo>
                    <a:pt x="5985002" y="0"/>
                  </a:lnTo>
                  <a:cubicBezTo>
                    <a:pt x="6073902" y="0"/>
                    <a:pt x="6146038" y="72136"/>
                    <a:pt x="6146038" y="161036"/>
                  </a:cubicBezTo>
                  <a:lnTo>
                    <a:pt x="6146038" y="2532888"/>
                  </a:lnTo>
                  <a:cubicBezTo>
                    <a:pt x="6146038" y="2621788"/>
                    <a:pt x="6073902" y="2693924"/>
                    <a:pt x="5985002" y="2693924"/>
                  </a:cubicBezTo>
                  <a:lnTo>
                    <a:pt x="161036" y="2693924"/>
                  </a:lnTo>
                  <a:cubicBezTo>
                    <a:pt x="72136" y="2693924"/>
                    <a:pt x="0" y="2621788"/>
                    <a:pt x="0" y="2532888"/>
                  </a:cubicBezTo>
                  <a:close/>
                </a:path>
              </a:pathLst>
            </a:custGeom>
            <a:solidFill>
              <a:srgbClr val="101620"/>
            </a:solidFill>
            <a:ln w="28576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700397" y="4933798"/>
            <a:ext cx="4609652" cy="2020491"/>
            <a:chOff x="0" y="0"/>
            <a:chExt cx="6146203" cy="26939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46165" cy="2693924"/>
            </a:xfrm>
            <a:custGeom>
              <a:avLst/>
              <a:gdLst/>
              <a:ahLst/>
              <a:cxnLst/>
              <a:rect r="r" b="b" t="t" l="l"/>
              <a:pathLst>
                <a:path h="2693924" w="6146165">
                  <a:moveTo>
                    <a:pt x="0" y="161036"/>
                  </a:moveTo>
                  <a:cubicBezTo>
                    <a:pt x="0" y="72136"/>
                    <a:pt x="72136" y="0"/>
                    <a:pt x="161036" y="0"/>
                  </a:cubicBezTo>
                  <a:lnTo>
                    <a:pt x="5985129" y="0"/>
                  </a:lnTo>
                  <a:cubicBezTo>
                    <a:pt x="6074029" y="0"/>
                    <a:pt x="6146165" y="72136"/>
                    <a:pt x="6146165" y="161036"/>
                  </a:cubicBezTo>
                  <a:lnTo>
                    <a:pt x="6146165" y="2532888"/>
                  </a:lnTo>
                  <a:cubicBezTo>
                    <a:pt x="6146165" y="2621788"/>
                    <a:pt x="6074029" y="2693924"/>
                    <a:pt x="5985129" y="2693924"/>
                  </a:cubicBezTo>
                  <a:lnTo>
                    <a:pt x="161036" y="2693924"/>
                  </a:lnTo>
                  <a:cubicBezTo>
                    <a:pt x="72136" y="2693924"/>
                    <a:pt x="0" y="2621788"/>
                    <a:pt x="0" y="2532888"/>
                  </a:cubicBezTo>
                  <a:close/>
                </a:path>
              </a:pathLst>
            </a:custGeom>
            <a:solidFill>
              <a:srgbClr val="101620"/>
            </a:solidFill>
            <a:ln w="28576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835951" y="7209234"/>
            <a:ext cx="9474098" cy="1651997"/>
            <a:chOff x="0" y="0"/>
            <a:chExt cx="12632131" cy="22026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32055" cy="2202688"/>
            </a:xfrm>
            <a:custGeom>
              <a:avLst/>
              <a:gdLst/>
              <a:ahLst/>
              <a:cxnLst/>
              <a:rect r="r" b="b" t="t" l="l"/>
              <a:pathLst>
                <a:path h="2202688" w="12632055">
                  <a:moveTo>
                    <a:pt x="0" y="161544"/>
                  </a:moveTo>
                  <a:cubicBezTo>
                    <a:pt x="0" y="72390"/>
                    <a:pt x="72390" y="0"/>
                    <a:pt x="161544" y="0"/>
                  </a:cubicBezTo>
                  <a:lnTo>
                    <a:pt x="12470511" y="0"/>
                  </a:lnTo>
                  <a:cubicBezTo>
                    <a:pt x="12559792" y="0"/>
                    <a:pt x="12632055" y="72390"/>
                    <a:pt x="12632055" y="161544"/>
                  </a:cubicBezTo>
                  <a:lnTo>
                    <a:pt x="12632055" y="2041144"/>
                  </a:lnTo>
                  <a:cubicBezTo>
                    <a:pt x="12632055" y="2130425"/>
                    <a:pt x="12559665" y="2202688"/>
                    <a:pt x="12470511" y="2202688"/>
                  </a:cubicBezTo>
                  <a:lnTo>
                    <a:pt x="161544" y="2202688"/>
                  </a:lnTo>
                  <a:cubicBezTo>
                    <a:pt x="72390" y="2202688"/>
                    <a:pt x="0" y="2130298"/>
                    <a:pt x="0" y="2041144"/>
                  </a:cubicBezTo>
                  <a:close/>
                </a:path>
              </a:pathLst>
            </a:custGeom>
            <a:solidFill>
              <a:srgbClr val="101620"/>
            </a:solidFill>
            <a:ln w="28576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7850238" y="1354331"/>
            <a:ext cx="8002638" cy="100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550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Project Overview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50238" y="2748563"/>
            <a:ext cx="9445523" cy="182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KinaHub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is a modern, local-first e-commerce and CRM platform designed to empower local sellers and neighborhoods in Nepal. It bridges the gap between physical stores and the digital shopping space — featuring a dynamic storefront, multi-seller cart, and an AI shopping assistant called </a:t>
            </a:r>
            <a:r>
              <a:rPr lang="en-US" sz="22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Kina AI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62334" y="5222081"/>
            <a:ext cx="3544043" cy="49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Dynamic Storefront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62334" y="5852817"/>
            <a:ext cx="3956742" cy="77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Responsive React + Tailwind CSS UI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26781" y="5222081"/>
            <a:ext cx="3544043" cy="49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Multi-Seller Cart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26781" y="5852817"/>
            <a:ext cx="3956895" cy="77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Optimized for local delivery fees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62334" y="7497518"/>
            <a:ext cx="3544043" cy="49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Kina AI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62334" y="8128244"/>
            <a:ext cx="8821341" cy="406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Real-time localized shopping advice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95866" y="9185081"/>
            <a:ext cx="9409062" cy="60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739" spc="373">
                <a:solidFill>
                  <a:srgbClr val="FFFFFF"/>
                </a:solidFill>
                <a:latin typeface="Glegoo"/>
                <a:ea typeface="Glegoo"/>
                <a:cs typeface="Glegoo"/>
                <a:sym typeface="Glegoo"/>
              </a:rPr>
              <a:t>Demo: Kinahub.vercel.app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365477"/>
            <a:ext cx="8002638" cy="100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550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901526"/>
            <a:ext cx="17217923" cy="406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The local retail market in Nepal faces critical digital barriers that KinaHub is designed to solve.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54138" y="4627064"/>
            <a:ext cx="5283546" cy="3208582"/>
          </a:xfrm>
          <a:custGeom>
            <a:avLst/>
            <a:gdLst/>
            <a:ahLst/>
            <a:cxnLst/>
            <a:rect r="r" b="b" t="t" l="l"/>
            <a:pathLst>
              <a:path h="3208582" w="5283546">
                <a:moveTo>
                  <a:pt x="0" y="0"/>
                </a:moveTo>
                <a:lnTo>
                  <a:pt x="5283546" y="0"/>
                </a:lnTo>
                <a:lnTo>
                  <a:pt x="5283546" y="3208582"/>
                </a:lnTo>
                <a:lnTo>
                  <a:pt x="0" y="32085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28150" y="4910585"/>
            <a:ext cx="3544043" cy="49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🏪</a:t>
            </a: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Visibility Gap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150" y="5541321"/>
            <a:ext cx="4487913" cy="151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Small local stores lack technical resources to build online storefronts, making them invisible to digital-first customers.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6483106" y="4627064"/>
            <a:ext cx="5283546" cy="3208582"/>
          </a:xfrm>
          <a:custGeom>
            <a:avLst/>
            <a:gdLst/>
            <a:ahLst/>
            <a:cxnLst/>
            <a:rect r="r" b="b" t="t" l="l"/>
            <a:pathLst>
              <a:path h="3208582" w="5283546">
                <a:moveTo>
                  <a:pt x="0" y="0"/>
                </a:moveTo>
                <a:lnTo>
                  <a:pt x="5283546" y="0"/>
                </a:lnTo>
                <a:lnTo>
                  <a:pt x="5283546" y="3208582"/>
                </a:lnTo>
                <a:lnTo>
                  <a:pt x="0" y="32085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957117" y="4910585"/>
            <a:ext cx="4275534" cy="49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📦</a:t>
            </a: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Logistical Complexity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7117" y="5541321"/>
            <a:ext cx="4487913" cy="151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Customers ordering from multiple nearby stores face high, disjointed delivery fees — platforms don't optimize for local seller proximity.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2012063" y="4627064"/>
            <a:ext cx="5283546" cy="3208582"/>
          </a:xfrm>
          <a:custGeom>
            <a:avLst/>
            <a:gdLst/>
            <a:ahLst/>
            <a:cxnLst/>
            <a:rect r="r" b="b" t="t" l="l"/>
            <a:pathLst>
              <a:path h="3208582" w="5283546">
                <a:moveTo>
                  <a:pt x="0" y="0"/>
                </a:moveTo>
                <a:lnTo>
                  <a:pt x="5283546" y="0"/>
                </a:lnTo>
                <a:lnTo>
                  <a:pt x="5283546" y="3208582"/>
                </a:lnTo>
                <a:lnTo>
                  <a:pt x="0" y="32085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486084" y="4910585"/>
            <a:ext cx="4487913" cy="959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🤖</a:t>
            </a: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Lack of Personalized Guidance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86084" y="6001941"/>
            <a:ext cx="4487913" cy="151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Traditional e-commerce offers generic recommendations. Local shoppers need specific advice on value and localized convenience.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25921"/>
            <a:ext cx="10406358" cy="100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550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Project Objectives &amp;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103664"/>
            <a:ext cx="4458443" cy="49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Objectives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847805"/>
            <a:ext cx="7805890" cy="291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2851"/>
              </a:lnSpc>
              <a:buFont typeface="Arial"/>
              <a:buChar char="•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Build a responsive frontend with </a:t>
            </a:r>
            <a:r>
              <a:rPr lang="en-US" b="true" sz="2200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React + Tailwind CSS</a:t>
            </a:r>
          </a:p>
          <a:p>
            <a:pPr algn="l" marL="530860" indent="-265430" lvl="1">
              <a:lnSpc>
                <a:spcPts val="2851"/>
              </a:lnSpc>
              <a:buFont typeface="Arial"/>
              <a:buChar char="•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Implement a secure backend via </a:t>
            </a:r>
            <a:r>
              <a:rPr lang="en-US" b="true" sz="2200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Django REST Framework</a:t>
            </a:r>
          </a:p>
          <a:p>
            <a:pPr algn="l" marL="530860" indent="-265430" lvl="1">
              <a:lnSpc>
                <a:spcPts val="2851"/>
              </a:lnSpc>
              <a:buFont typeface="Arial"/>
              <a:buChar char="•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Integrate </a:t>
            </a:r>
            <a:r>
              <a:rPr lang="en-US" b="true" sz="2200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OpenRouter API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for AI-powered shopping advice</a:t>
            </a:r>
          </a:p>
          <a:p>
            <a:pPr algn="l" marL="530860" indent="-265430" lvl="1">
              <a:lnSpc>
                <a:spcPts val="2851"/>
              </a:lnSpc>
              <a:buFont typeface="Arial"/>
              <a:buChar char="•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Simplify business management for local sellers via a CRM 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406" y="3103664"/>
            <a:ext cx="4458443" cy="49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Scope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406" y="3847805"/>
            <a:ext cx="8720290" cy="406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End-to-end e-commerce development including: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406" y="4471387"/>
            <a:ext cx="7805890" cy="227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2851"/>
              </a:lnSpc>
              <a:buFont typeface="Arial"/>
              <a:buChar char="•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JWT user authentication</a:t>
            </a:r>
          </a:p>
          <a:p>
            <a:pPr algn="l" marL="530860" indent="-265430" lvl="1">
              <a:lnSpc>
                <a:spcPts val="2851"/>
              </a:lnSpc>
              <a:buFont typeface="Arial"/>
              <a:buChar char="•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Product listing &amp; categorization</a:t>
            </a:r>
          </a:p>
          <a:p>
            <a:pPr algn="l" marL="530860" indent="-265430" lvl="1">
              <a:lnSpc>
                <a:spcPts val="2851"/>
              </a:lnSpc>
              <a:buFont typeface="Arial"/>
              <a:buChar char="•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Brand management</a:t>
            </a:r>
          </a:p>
          <a:p>
            <a:pPr algn="l" marL="530860" indent="-265430" lvl="1">
              <a:lnSpc>
                <a:spcPts val="2851"/>
              </a:lnSpc>
              <a:buFont typeface="Arial"/>
              <a:buChar char="•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Multi-seller cart optimization</a:t>
            </a:r>
          </a:p>
          <a:p>
            <a:pPr algn="l" marL="530860" indent="-265430" lvl="1">
              <a:lnSpc>
                <a:spcPts val="2851"/>
              </a:lnSpc>
              <a:buFont typeface="Arial"/>
              <a:buChar char="•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Comprehensive seller dashboard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99406" y="7067398"/>
            <a:ext cx="7805890" cy="1388859"/>
            <a:chOff x="0" y="0"/>
            <a:chExt cx="10407853" cy="18518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7777" cy="1851787"/>
            </a:xfrm>
            <a:custGeom>
              <a:avLst/>
              <a:gdLst/>
              <a:ahLst/>
              <a:cxnLst/>
              <a:rect r="r" b="b" t="t" l="l"/>
              <a:pathLst>
                <a:path h="1851787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657" y="0"/>
                    <a:pt x="10407777" y="71120"/>
                    <a:pt x="10407777" y="158750"/>
                  </a:cubicBezTo>
                  <a:lnTo>
                    <a:pt x="10407777" y="1693037"/>
                  </a:lnTo>
                  <a:cubicBezTo>
                    <a:pt x="10407777" y="1780667"/>
                    <a:pt x="10336657" y="1851787"/>
                    <a:pt x="10249027" y="1851787"/>
                  </a:cubicBezTo>
                  <a:lnTo>
                    <a:pt x="158750" y="1851787"/>
                  </a:lnTo>
                  <a:cubicBezTo>
                    <a:pt x="71120" y="1851787"/>
                    <a:pt x="0" y="1780667"/>
                    <a:pt x="0" y="1693037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782918" y="7449893"/>
            <a:ext cx="354359" cy="283521"/>
            <a:chOff x="0" y="0"/>
            <a:chExt cx="472478" cy="37802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1" r="-8" b="-65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420798" y="7355234"/>
            <a:ext cx="6600977" cy="77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Scope limited to a functional prototype for local testing and school demonstrations.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7266" t="0" r="-77266" b="0"/>
              </a:stretch>
            </a:blip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7850238" y="3006033"/>
            <a:ext cx="642337" cy="642337"/>
          </a:xfrm>
          <a:custGeom>
            <a:avLst/>
            <a:gdLst/>
            <a:ahLst/>
            <a:cxnLst/>
            <a:rect r="r" b="b" t="t" l="l"/>
            <a:pathLst>
              <a:path h="642337" w="642337">
                <a:moveTo>
                  <a:pt x="0" y="0"/>
                </a:moveTo>
                <a:lnTo>
                  <a:pt x="642338" y="0"/>
                </a:lnTo>
                <a:lnTo>
                  <a:pt x="642338" y="642337"/>
                </a:lnTo>
                <a:lnTo>
                  <a:pt x="0" y="6423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471" t="0" r="-1471" b="0"/>
            </a:stretch>
          </a:blipFill>
        </p:spPr>
      </p:sp>
      <p:sp>
        <p:nvSpPr>
          <p:cNvPr name="Freeform 13" id="13" descr="preencoded.png"/>
          <p:cNvSpPr/>
          <p:nvPr/>
        </p:nvSpPr>
        <p:spPr>
          <a:xfrm flipH="false" flipV="false" rot="0">
            <a:off x="7850238" y="5280422"/>
            <a:ext cx="642337" cy="642337"/>
          </a:xfrm>
          <a:custGeom>
            <a:avLst/>
            <a:gdLst/>
            <a:ahLst/>
            <a:cxnLst/>
            <a:rect r="r" b="b" t="t" l="l"/>
            <a:pathLst>
              <a:path h="642337" w="642337">
                <a:moveTo>
                  <a:pt x="0" y="0"/>
                </a:moveTo>
                <a:lnTo>
                  <a:pt x="642338" y="0"/>
                </a:lnTo>
                <a:lnTo>
                  <a:pt x="642338" y="642337"/>
                </a:lnTo>
                <a:lnTo>
                  <a:pt x="0" y="6423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882" r="0" b="-5882"/>
            </a:stretch>
          </a:blipFill>
        </p:spPr>
      </p:sp>
      <p:sp>
        <p:nvSpPr>
          <p:cNvPr name="Freeform 14" id="14" descr="preencoded.png"/>
          <p:cNvSpPr/>
          <p:nvPr/>
        </p:nvSpPr>
        <p:spPr>
          <a:xfrm flipH="false" flipV="false" rot="0">
            <a:off x="7850238" y="7554811"/>
            <a:ext cx="642337" cy="642337"/>
          </a:xfrm>
          <a:custGeom>
            <a:avLst/>
            <a:gdLst/>
            <a:ahLst/>
            <a:cxnLst/>
            <a:rect r="r" b="b" t="t" l="l"/>
            <a:pathLst>
              <a:path h="642337" w="642337">
                <a:moveTo>
                  <a:pt x="0" y="0"/>
                </a:moveTo>
                <a:lnTo>
                  <a:pt x="642338" y="0"/>
                </a:lnTo>
                <a:lnTo>
                  <a:pt x="642338" y="642337"/>
                </a:lnTo>
                <a:lnTo>
                  <a:pt x="0" y="6423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940" t="0" r="-2942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850238" y="856659"/>
            <a:ext cx="9012441" cy="901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4999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OJT Workplace &amp; Context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50238" y="2097881"/>
            <a:ext cx="9445523" cy="64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2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The OJT was conducted at the </a:t>
            </a:r>
            <a:r>
              <a:rPr lang="en-US" sz="20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Computer Engineering Department, Shivapuri Secondary School</a:t>
            </a: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, in a professional development studio environment.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50238" y="3901230"/>
            <a:ext cx="3541957" cy="45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Design-First Workflow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50238" y="4486875"/>
            <a:ext cx="9445523" cy="32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2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Wireframing in Figma before coding to ensure systematic software design.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50238" y="6175619"/>
            <a:ext cx="3211859" cy="45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Agile Methodology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50238" y="6761264"/>
            <a:ext cx="9445523" cy="32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2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Project broken into sprints: Cart Implementation, API Endpoints, AI Integration.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50238" y="8450018"/>
            <a:ext cx="3211859" cy="45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Infrastructure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50238" y="9035653"/>
            <a:ext cx="9445523" cy="32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2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School-provided workstations and internet access for real-time API testing.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02021"/>
            <a:ext cx="8002638" cy="100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550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Technology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238080"/>
            <a:ext cx="17217923" cy="406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KinaHub uses a </a:t>
            </a:r>
            <a:r>
              <a:rPr lang="en-US" sz="22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decoupled architecture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— frontend and backend evolve independently.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7951" y="2949331"/>
            <a:ext cx="8038509" cy="3154566"/>
            <a:chOff x="0" y="0"/>
            <a:chExt cx="10718013" cy="42060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18038" cy="4206113"/>
            </a:xfrm>
            <a:custGeom>
              <a:avLst/>
              <a:gdLst/>
              <a:ahLst/>
              <a:cxnLst/>
              <a:rect r="r" b="b" t="t" l="l"/>
              <a:pathLst>
                <a:path h="4206113" w="10718038">
                  <a:moveTo>
                    <a:pt x="0" y="160274"/>
                  </a:moveTo>
                  <a:cubicBezTo>
                    <a:pt x="0" y="71755"/>
                    <a:pt x="71755" y="0"/>
                    <a:pt x="160274" y="0"/>
                  </a:cubicBezTo>
                  <a:lnTo>
                    <a:pt x="10557764" y="0"/>
                  </a:lnTo>
                  <a:cubicBezTo>
                    <a:pt x="10646283" y="0"/>
                    <a:pt x="10718038" y="71755"/>
                    <a:pt x="10718038" y="160274"/>
                  </a:cubicBezTo>
                  <a:lnTo>
                    <a:pt x="10718038" y="4045839"/>
                  </a:lnTo>
                  <a:cubicBezTo>
                    <a:pt x="10718038" y="4134358"/>
                    <a:pt x="10646283" y="4206113"/>
                    <a:pt x="10557764" y="4206113"/>
                  </a:cubicBezTo>
                  <a:lnTo>
                    <a:pt x="160274" y="4206113"/>
                  </a:lnTo>
                  <a:cubicBezTo>
                    <a:pt x="71755" y="4206113"/>
                    <a:pt x="0" y="4134358"/>
                    <a:pt x="0" y="4045839"/>
                  </a:cubicBezTo>
                  <a:close/>
                </a:path>
              </a:pathLst>
            </a:custGeom>
            <a:solidFill>
              <a:srgbClr val="101620"/>
            </a:solidFill>
            <a:ln w="28576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04334" y="3275705"/>
            <a:ext cx="850554" cy="850554"/>
            <a:chOff x="0" y="0"/>
            <a:chExt cx="1134072" cy="113407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38288" y="3509667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04334" y="4371680"/>
            <a:ext cx="3544043" cy="49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4334" y="5002406"/>
            <a:ext cx="7385742" cy="77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React.js + TypeScript · Vite build tool · Tailwind CSS · Framer Motion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71397" y="2949331"/>
            <a:ext cx="8038652" cy="3154566"/>
            <a:chOff x="0" y="0"/>
            <a:chExt cx="10718203" cy="42060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18165" cy="4206113"/>
            </a:xfrm>
            <a:custGeom>
              <a:avLst/>
              <a:gdLst/>
              <a:ahLst/>
              <a:cxnLst/>
              <a:rect r="r" b="b" t="t" l="l"/>
              <a:pathLst>
                <a:path h="4206113" w="10718165">
                  <a:moveTo>
                    <a:pt x="0" y="160274"/>
                  </a:moveTo>
                  <a:cubicBezTo>
                    <a:pt x="0" y="71755"/>
                    <a:pt x="71755" y="0"/>
                    <a:pt x="160274" y="0"/>
                  </a:cubicBezTo>
                  <a:lnTo>
                    <a:pt x="10557891" y="0"/>
                  </a:lnTo>
                  <a:cubicBezTo>
                    <a:pt x="10646410" y="0"/>
                    <a:pt x="10718165" y="71755"/>
                    <a:pt x="10718165" y="160274"/>
                  </a:cubicBezTo>
                  <a:lnTo>
                    <a:pt x="10718165" y="4045839"/>
                  </a:lnTo>
                  <a:cubicBezTo>
                    <a:pt x="10718165" y="4134358"/>
                    <a:pt x="10646410" y="4206113"/>
                    <a:pt x="10557891" y="4206113"/>
                  </a:cubicBezTo>
                  <a:lnTo>
                    <a:pt x="160274" y="4206113"/>
                  </a:lnTo>
                  <a:cubicBezTo>
                    <a:pt x="71755" y="4206113"/>
                    <a:pt x="0" y="4134358"/>
                    <a:pt x="0" y="4045839"/>
                  </a:cubicBezTo>
                  <a:close/>
                </a:path>
              </a:pathLst>
            </a:custGeom>
            <a:solidFill>
              <a:srgbClr val="101620"/>
            </a:solidFill>
            <a:ln w="28576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597781" y="3275705"/>
            <a:ext cx="850554" cy="850554"/>
            <a:chOff x="0" y="0"/>
            <a:chExt cx="1134072" cy="1134072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831734" y="3509667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098" t="0" r="-6096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597781" y="4371680"/>
            <a:ext cx="3544043" cy="49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Backend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97781" y="5002406"/>
            <a:ext cx="7385895" cy="77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Django · Django REST Framework (DRF) · ORM for database management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77951" y="6358833"/>
            <a:ext cx="8038509" cy="3154566"/>
            <a:chOff x="0" y="0"/>
            <a:chExt cx="10718013" cy="42060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18038" cy="4206113"/>
            </a:xfrm>
            <a:custGeom>
              <a:avLst/>
              <a:gdLst/>
              <a:ahLst/>
              <a:cxnLst/>
              <a:rect r="r" b="b" t="t" l="l"/>
              <a:pathLst>
                <a:path h="4206113" w="10718038">
                  <a:moveTo>
                    <a:pt x="0" y="160274"/>
                  </a:moveTo>
                  <a:cubicBezTo>
                    <a:pt x="0" y="71755"/>
                    <a:pt x="71755" y="0"/>
                    <a:pt x="160274" y="0"/>
                  </a:cubicBezTo>
                  <a:lnTo>
                    <a:pt x="10557764" y="0"/>
                  </a:lnTo>
                  <a:cubicBezTo>
                    <a:pt x="10646283" y="0"/>
                    <a:pt x="10718038" y="71755"/>
                    <a:pt x="10718038" y="160274"/>
                  </a:cubicBezTo>
                  <a:lnTo>
                    <a:pt x="10718038" y="4045839"/>
                  </a:lnTo>
                  <a:cubicBezTo>
                    <a:pt x="10718038" y="4134358"/>
                    <a:pt x="10646283" y="4206113"/>
                    <a:pt x="10557764" y="4206113"/>
                  </a:cubicBezTo>
                  <a:lnTo>
                    <a:pt x="160274" y="4206113"/>
                  </a:lnTo>
                  <a:cubicBezTo>
                    <a:pt x="71755" y="4206113"/>
                    <a:pt x="0" y="4134358"/>
                    <a:pt x="0" y="4045839"/>
                  </a:cubicBezTo>
                  <a:close/>
                </a:path>
              </a:pathLst>
            </a:custGeom>
            <a:solidFill>
              <a:srgbClr val="101620"/>
            </a:solidFill>
            <a:ln w="28576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04334" y="6685207"/>
            <a:ext cx="850554" cy="850554"/>
            <a:chOff x="0" y="0"/>
            <a:chExt cx="1134072" cy="1134072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3" b="3"/>
              </a:stretch>
            </a:blip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538288" y="691917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04334" y="7781182"/>
            <a:ext cx="3544043" cy="49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AI Layer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04334" y="8411918"/>
            <a:ext cx="7385742" cy="77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OpenRouter API · Gemma &amp; Nemotron LLMs · Client-side streaming responses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71397" y="6358833"/>
            <a:ext cx="8038652" cy="3154566"/>
            <a:chOff x="0" y="0"/>
            <a:chExt cx="10718203" cy="42060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18165" cy="4206113"/>
            </a:xfrm>
            <a:custGeom>
              <a:avLst/>
              <a:gdLst/>
              <a:ahLst/>
              <a:cxnLst/>
              <a:rect r="r" b="b" t="t" l="l"/>
              <a:pathLst>
                <a:path h="4206113" w="10718165">
                  <a:moveTo>
                    <a:pt x="0" y="160274"/>
                  </a:moveTo>
                  <a:cubicBezTo>
                    <a:pt x="0" y="71755"/>
                    <a:pt x="71755" y="0"/>
                    <a:pt x="160274" y="0"/>
                  </a:cubicBezTo>
                  <a:lnTo>
                    <a:pt x="10557891" y="0"/>
                  </a:lnTo>
                  <a:cubicBezTo>
                    <a:pt x="10646410" y="0"/>
                    <a:pt x="10718165" y="71755"/>
                    <a:pt x="10718165" y="160274"/>
                  </a:cubicBezTo>
                  <a:lnTo>
                    <a:pt x="10718165" y="4045839"/>
                  </a:lnTo>
                  <a:cubicBezTo>
                    <a:pt x="10718165" y="4134358"/>
                    <a:pt x="10646410" y="4206113"/>
                    <a:pt x="10557891" y="4206113"/>
                  </a:cubicBezTo>
                  <a:lnTo>
                    <a:pt x="160274" y="4206113"/>
                  </a:lnTo>
                  <a:cubicBezTo>
                    <a:pt x="71755" y="4206113"/>
                    <a:pt x="0" y="4134358"/>
                    <a:pt x="0" y="4045839"/>
                  </a:cubicBezTo>
                  <a:close/>
                </a:path>
              </a:pathLst>
            </a:custGeom>
            <a:solidFill>
              <a:srgbClr val="101620"/>
            </a:solidFill>
            <a:ln w="28576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597781" y="6685207"/>
            <a:ext cx="850554" cy="850554"/>
            <a:chOff x="0" y="0"/>
            <a:chExt cx="1134072" cy="1134072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3" b="3"/>
              </a:stretch>
            </a:blip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9831734" y="691917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597781" y="7781182"/>
            <a:ext cx="3544043" cy="49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Security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97781" y="8411918"/>
            <a:ext cx="7385895" cy="77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JWT authentication · Slug-based routing · Verified purchase reviews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54673" y="809777"/>
            <a:ext cx="6684759" cy="76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3"/>
              </a:lnSpc>
            </a:pPr>
            <a:r>
              <a:rPr lang="en-US" sz="420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Backend Data Models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54673" y="2008737"/>
            <a:ext cx="7224417" cy="7224417"/>
            <a:chOff x="0" y="0"/>
            <a:chExt cx="9632556" cy="963255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632569" cy="9632569"/>
            </a:xfrm>
            <a:custGeom>
              <a:avLst/>
              <a:gdLst/>
              <a:ahLst/>
              <a:cxnLst/>
              <a:rect r="r" b="b" t="t" l="l"/>
              <a:pathLst>
                <a:path h="9632569" w="9632569">
                  <a:moveTo>
                    <a:pt x="0" y="0"/>
                  </a:moveTo>
                  <a:lnTo>
                    <a:pt x="9632569" y="0"/>
                  </a:lnTo>
                  <a:lnTo>
                    <a:pt x="9632569" y="9632569"/>
                  </a:lnTo>
                  <a:lnTo>
                    <a:pt x="0" y="9632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18139" y="4353220"/>
            <a:ext cx="3627834" cy="38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10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Core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18139" y="4890935"/>
            <a:ext cx="7224417" cy="75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The backend is built around four interconnected models that power every feature of the platform — from product discovery to seller management and community trust.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18139" y="5787923"/>
            <a:ext cx="7224417" cy="118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1958"/>
              </a:lnSpc>
              <a:buFont typeface="Arial"/>
              <a:buChar char="•"/>
            </a:pPr>
            <a:r>
              <a:rPr lang="en-US" b="true" sz="1700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Product:</a:t>
            </a: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Handles dynamic pricing with current_price for discounts</a:t>
            </a:r>
          </a:p>
          <a:p>
            <a:pPr algn="l" marL="410210" indent="-205105" lvl="1">
              <a:lnSpc>
                <a:spcPts val="1958"/>
              </a:lnSpc>
              <a:buFont typeface="Arial"/>
              <a:buChar char="•"/>
            </a:pPr>
            <a:r>
              <a:rPr lang="en-US" b="true" sz="1700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Store:</a:t>
            </a: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Manages seller identity and delivery rules</a:t>
            </a:r>
          </a:p>
          <a:p>
            <a:pPr algn="l" marL="410210" indent="-205105" lvl="1">
              <a:lnSpc>
                <a:spcPts val="1958"/>
              </a:lnSpc>
              <a:buFont typeface="Arial"/>
              <a:buChar char="•"/>
            </a:pPr>
            <a:r>
              <a:rPr lang="en-US" b="true" sz="1700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Category/Brand:</a:t>
            </a: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Enables the advanced filtering system</a:t>
            </a:r>
          </a:p>
          <a:p>
            <a:pPr algn="l" marL="410210" indent="-205105" lvl="1">
              <a:lnSpc>
                <a:spcPts val="1958"/>
              </a:lnSpc>
              <a:buFont typeface="Arial"/>
              <a:buChar char="•"/>
            </a:pPr>
            <a:r>
              <a:rPr lang="en-US" b="true" sz="1700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Review:</a:t>
            </a: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Builds social proof via verified purchases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68609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28837" y="2690542"/>
            <a:ext cx="8515163" cy="4207004"/>
            <a:chOff x="0" y="0"/>
            <a:chExt cx="5329467" cy="26330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29467" cy="2633078"/>
            </a:xfrm>
            <a:custGeom>
              <a:avLst/>
              <a:gdLst/>
              <a:ahLst/>
              <a:cxnLst/>
              <a:rect r="r" b="b" t="t" l="l"/>
              <a:pathLst>
                <a:path h="2633078" w="5329467">
                  <a:moveTo>
                    <a:pt x="0" y="0"/>
                  </a:moveTo>
                  <a:lnTo>
                    <a:pt x="5329467" y="0"/>
                  </a:lnTo>
                  <a:lnTo>
                    <a:pt x="5329467" y="2633078"/>
                  </a:lnTo>
                  <a:lnTo>
                    <a:pt x="0" y="2633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112" r="0" b="-1211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11333" y="2690542"/>
            <a:ext cx="8798829" cy="4257343"/>
            <a:chOff x="0" y="0"/>
            <a:chExt cx="5441894" cy="26330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41893" cy="2633078"/>
            </a:xfrm>
            <a:custGeom>
              <a:avLst/>
              <a:gdLst/>
              <a:ahLst/>
              <a:cxnLst/>
              <a:rect r="r" b="b" t="t" l="l"/>
              <a:pathLst>
                <a:path h="2633078" w="5441893">
                  <a:moveTo>
                    <a:pt x="0" y="0"/>
                  </a:moveTo>
                  <a:lnTo>
                    <a:pt x="5441893" y="0"/>
                  </a:lnTo>
                  <a:lnTo>
                    <a:pt x="5441893" y="2633078"/>
                  </a:lnTo>
                  <a:lnTo>
                    <a:pt x="0" y="2633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061" t="0" r="-406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750389"/>
            <a:ext cx="10595372" cy="96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540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Platform Features Showcase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898894"/>
            <a:ext cx="17217923" cy="37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Each module was designed with user experience as the primary focus.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9761" y="7059471"/>
            <a:ext cx="3433315" cy="48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Landing Page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76560" y="7724878"/>
            <a:ext cx="3826516" cy="72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High-impact design with clear navigation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94090" y="7059471"/>
            <a:ext cx="3433315" cy="48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Filtering &amp; Search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00888" y="7677253"/>
            <a:ext cx="3826516" cy="72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Price, brand, rating filters + instant full-text search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68609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028700"/>
            <a:ext cx="4459982" cy="5797770"/>
            <a:chOff x="0" y="0"/>
            <a:chExt cx="2265864" cy="29455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5864" cy="2945518"/>
            </a:xfrm>
            <a:custGeom>
              <a:avLst/>
              <a:gdLst/>
              <a:ahLst/>
              <a:cxnLst/>
              <a:rect r="r" b="b" t="t" l="l"/>
              <a:pathLst>
                <a:path h="2945518" w="2265864">
                  <a:moveTo>
                    <a:pt x="0" y="0"/>
                  </a:moveTo>
                  <a:lnTo>
                    <a:pt x="2265864" y="0"/>
                  </a:lnTo>
                  <a:lnTo>
                    <a:pt x="2265864" y="2945518"/>
                  </a:lnTo>
                  <a:lnTo>
                    <a:pt x="0" y="2945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64" r="0" b="-66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757510" y="1028700"/>
            <a:ext cx="8501790" cy="5797770"/>
            <a:chOff x="0" y="0"/>
            <a:chExt cx="3527634" cy="24056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27634" cy="2405659"/>
            </a:xfrm>
            <a:custGeom>
              <a:avLst/>
              <a:gdLst/>
              <a:ahLst/>
              <a:cxnLst/>
              <a:rect r="r" b="b" t="t" l="l"/>
              <a:pathLst>
                <a:path h="2405659" w="3527634">
                  <a:moveTo>
                    <a:pt x="0" y="0"/>
                  </a:moveTo>
                  <a:lnTo>
                    <a:pt x="3527634" y="0"/>
                  </a:lnTo>
                  <a:lnTo>
                    <a:pt x="3527634" y="2405659"/>
                  </a:lnTo>
                  <a:lnTo>
                    <a:pt x="0" y="24056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56" r="0" b="-315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55368" y="6973812"/>
            <a:ext cx="3433315" cy="48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Kina 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5433" y="7624636"/>
            <a:ext cx="3826516" cy="72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LLM-powered shopping assistant with localized advice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92358" y="6973812"/>
            <a:ext cx="3433315" cy="48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Seller CRM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99156" y="7620169"/>
            <a:ext cx="3826516" cy="72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Comprehensive dashboard for local sellers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5068" y="1028700"/>
            <a:ext cx="8720373" cy="4835176"/>
            <a:chOff x="0" y="0"/>
            <a:chExt cx="4577753" cy="25382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7753" cy="2538222"/>
            </a:xfrm>
            <a:custGeom>
              <a:avLst/>
              <a:gdLst/>
              <a:ahLst/>
              <a:cxnLst/>
              <a:rect r="r" b="b" t="t" l="l"/>
              <a:pathLst>
                <a:path h="2538222" w="4577753">
                  <a:moveTo>
                    <a:pt x="0" y="0"/>
                  </a:moveTo>
                  <a:lnTo>
                    <a:pt x="4577753" y="0"/>
                  </a:lnTo>
                  <a:lnTo>
                    <a:pt x="4577753" y="2538222"/>
                  </a:lnTo>
                  <a:lnTo>
                    <a:pt x="0" y="2538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941" r="0" b="-1594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56596" y="1028700"/>
            <a:ext cx="7695956" cy="4835176"/>
            <a:chOff x="0" y="0"/>
            <a:chExt cx="4039986" cy="2538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39986" cy="2538222"/>
            </a:xfrm>
            <a:custGeom>
              <a:avLst/>
              <a:gdLst/>
              <a:ahLst/>
              <a:cxnLst/>
              <a:rect r="r" b="b" t="t" l="l"/>
              <a:pathLst>
                <a:path h="2538222" w="4039986">
                  <a:moveTo>
                    <a:pt x="0" y="0"/>
                  </a:moveTo>
                  <a:lnTo>
                    <a:pt x="4039986" y="0"/>
                  </a:lnTo>
                  <a:lnTo>
                    <a:pt x="4039986" y="2538222"/>
                  </a:lnTo>
                  <a:lnTo>
                    <a:pt x="0" y="2538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468" r="0" b="-2446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700183" y="6131109"/>
            <a:ext cx="3433315" cy="48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Multi-Store Cart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03582" y="6706147"/>
            <a:ext cx="3826516" cy="72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Logic-heavy cart optimized for multi-seller orders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06305" y="6131109"/>
            <a:ext cx="3433315" cy="48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Secure Checkout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09704" y="6706147"/>
            <a:ext cx="3826516" cy="72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Multi-step process for high security and low friction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8039"/>
            <a:ext cx="7200900" cy="10287000"/>
            <a:chOff x="0" y="0"/>
            <a:chExt cx="96012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-8039"/>
            <a:ext cx="7200900" cy="10287000"/>
            <a:chOff x="0" y="0"/>
            <a:chExt cx="96012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428" t="0" r="-21428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35951" y="2829668"/>
            <a:ext cx="616591" cy="616591"/>
            <a:chOff x="0" y="0"/>
            <a:chExt cx="822122" cy="8221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68655" y="0"/>
                  </a:lnTo>
                  <a:cubicBezTo>
                    <a:pt x="753364" y="0"/>
                    <a:pt x="822198" y="68707"/>
                    <a:pt x="822198" y="153543"/>
                  </a:cubicBezTo>
                  <a:lnTo>
                    <a:pt x="822198" y="668655"/>
                  </a:lnTo>
                  <a:cubicBezTo>
                    <a:pt x="822198" y="753364"/>
                    <a:pt x="753491" y="822198"/>
                    <a:pt x="668655" y="822198"/>
                  </a:cubicBezTo>
                  <a:lnTo>
                    <a:pt x="153543" y="822198"/>
                  </a:lnTo>
                  <a:cubicBezTo>
                    <a:pt x="68707" y="822071"/>
                    <a:pt x="0" y="753364"/>
                    <a:pt x="0" y="668655"/>
                  </a:cubicBezTo>
                  <a:close/>
                </a:path>
              </a:pathLst>
            </a:custGeom>
            <a:solidFill>
              <a:srgbClr val="101620"/>
            </a:solidFill>
            <a:ln w="28576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948165" y="2883094"/>
            <a:ext cx="392011" cy="509588"/>
            <a:chOff x="0" y="0"/>
            <a:chExt cx="522681" cy="679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2685" cy="679451"/>
            </a:xfrm>
            <a:custGeom>
              <a:avLst/>
              <a:gdLst/>
              <a:ahLst/>
              <a:cxnLst/>
              <a:rect r="r" b="b" t="t" l="l"/>
              <a:pathLst>
                <a:path h="679451" w="522685">
                  <a:moveTo>
                    <a:pt x="0" y="0"/>
                  </a:moveTo>
                  <a:lnTo>
                    <a:pt x="522685" y="0"/>
                  </a:lnTo>
                  <a:lnTo>
                    <a:pt x="522685" y="679451"/>
                  </a:lnTo>
                  <a:lnTo>
                    <a:pt x="0" y="6794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6784" t="0" r="-11678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22681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BEDF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835951" y="4615005"/>
            <a:ext cx="616591" cy="616591"/>
            <a:chOff x="0" y="0"/>
            <a:chExt cx="822122" cy="8221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68655" y="0"/>
                  </a:lnTo>
                  <a:cubicBezTo>
                    <a:pt x="753364" y="0"/>
                    <a:pt x="822198" y="68707"/>
                    <a:pt x="822198" y="153543"/>
                  </a:cubicBezTo>
                  <a:lnTo>
                    <a:pt x="822198" y="668655"/>
                  </a:lnTo>
                  <a:cubicBezTo>
                    <a:pt x="822198" y="753364"/>
                    <a:pt x="753491" y="822198"/>
                    <a:pt x="668655" y="822198"/>
                  </a:cubicBezTo>
                  <a:lnTo>
                    <a:pt x="153543" y="822198"/>
                  </a:lnTo>
                  <a:cubicBezTo>
                    <a:pt x="68707" y="822071"/>
                    <a:pt x="0" y="753364"/>
                    <a:pt x="0" y="668655"/>
                  </a:cubicBezTo>
                  <a:close/>
                </a:path>
              </a:pathLst>
            </a:custGeom>
            <a:solidFill>
              <a:srgbClr val="101620"/>
            </a:solidFill>
            <a:ln w="28576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948165" y="4668441"/>
            <a:ext cx="392011" cy="509588"/>
            <a:chOff x="0" y="0"/>
            <a:chExt cx="522681" cy="6794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2685" cy="679451"/>
            </a:xfrm>
            <a:custGeom>
              <a:avLst/>
              <a:gdLst/>
              <a:ahLst/>
              <a:cxnLst/>
              <a:rect r="r" b="b" t="t" l="l"/>
              <a:pathLst>
                <a:path h="679451" w="522685">
                  <a:moveTo>
                    <a:pt x="0" y="0"/>
                  </a:moveTo>
                  <a:lnTo>
                    <a:pt x="522685" y="0"/>
                  </a:lnTo>
                  <a:lnTo>
                    <a:pt x="522685" y="679451"/>
                  </a:lnTo>
                  <a:lnTo>
                    <a:pt x="0" y="6794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6784" t="0" r="-116784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22681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BEDF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835951" y="6400352"/>
            <a:ext cx="616591" cy="616591"/>
            <a:chOff x="0" y="0"/>
            <a:chExt cx="822122" cy="8221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68655" y="0"/>
                  </a:lnTo>
                  <a:cubicBezTo>
                    <a:pt x="753364" y="0"/>
                    <a:pt x="822198" y="68707"/>
                    <a:pt x="822198" y="153543"/>
                  </a:cubicBezTo>
                  <a:lnTo>
                    <a:pt x="822198" y="668655"/>
                  </a:lnTo>
                  <a:cubicBezTo>
                    <a:pt x="822198" y="753364"/>
                    <a:pt x="753491" y="822198"/>
                    <a:pt x="668655" y="822198"/>
                  </a:cubicBezTo>
                  <a:lnTo>
                    <a:pt x="153543" y="822198"/>
                  </a:lnTo>
                  <a:cubicBezTo>
                    <a:pt x="68707" y="822071"/>
                    <a:pt x="0" y="753364"/>
                    <a:pt x="0" y="668655"/>
                  </a:cubicBezTo>
                  <a:close/>
                </a:path>
              </a:pathLst>
            </a:custGeom>
            <a:solidFill>
              <a:srgbClr val="101620"/>
            </a:solidFill>
            <a:ln w="28576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948165" y="6453778"/>
            <a:ext cx="392011" cy="509588"/>
            <a:chOff x="0" y="0"/>
            <a:chExt cx="522681" cy="6794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2685" cy="679451"/>
            </a:xfrm>
            <a:custGeom>
              <a:avLst/>
              <a:gdLst/>
              <a:ahLst/>
              <a:cxnLst/>
              <a:rect r="r" b="b" t="t" l="l"/>
              <a:pathLst>
                <a:path h="679451" w="522685">
                  <a:moveTo>
                    <a:pt x="0" y="0"/>
                  </a:moveTo>
                  <a:lnTo>
                    <a:pt x="522685" y="0"/>
                  </a:lnTo>
                  <a:lnTo>
                    <a:pt x="522685" y="679451"/>
                  </a:lnTo>
                  <a:lnTo>
                    <a:pt x="0" y="6794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6784" t="0" r="-11678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522681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BEDF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835951" y="8185699"/>
            <a:ext cx="616591" cy="616591"/>
            <a:chOff x="0" y="0"/>
            <a:chExt cx="822122" cy="82212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68655" y="0"/>
                  </a:lnTo>
                  <a:cubicBezTo>
                    <a:pt x="753364" y="0"/>
                    <a:pt x="822198" y="68707"/>
                    <a:pt x="822198" y="153543"/>
                  </a:cubicBezTo>
                  <a:lnTo>
                    <a:pt x="822198" y="668655"/>
                  </a:lnTo>
                  <a:cubicBezTo>
                    <a:pt x="822198" y="753364"/>
                    <a:pt x="753491" y="822198"/>
                    <a:pt x="668655" y="822198"/>
                  </a:cubicBezTo>
                  <a:lnTo>
                    <a:pt x="153543" y="822198"/>
                  </a:lnTo>
                  <a:cubicBezTo>
                    <a:pt x="68707" y="822071"/>
                    <a:pt x="0" y="753364"/>
                    <a:pt x="0" y="668655"/>
                  </a:cubicBezTo>
                  <a:close/>
                </a:path>
              </a:pathLst>
            </a:custGeom>
            <a:solidFill>
              <a:srgbClr val="101620"/>
            </a:solidFill>
            <a:ln w="28576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948165" y="8239125"/>
            <a:ext cx="392011" cy="509588"/>
            <a:chOff x="0" y="0"/>
            <a:chExt cx="522681" cy="6794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2685" cy="679451"/>
            </a:xfrm>
            <a:custGeom>
              <a:avLst/>
              <a:gdLst/>
              <a:ahLst/>
              <a:cxnLst/>
              <a:rect r="r" b="b" t="t" l="l"/>
              <a:pathLst>
                <a:path h="679451" w="522685">
                  <a:moveTo>
                    <a:pt x="0" y="0"/>
                  </a:moveTo>
                  <a:lnTo>
                    <a:pt x="522685" y="0"/>
                  </a:lnTo>
                  <a:lnTo>
                    <a:pt x="522685" y="679451"/>
                  </a:lnTo>
                  <a:lnTo>
                    <a:pt x="0" y="6794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6784" t="0" r="-116784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22681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BEDF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850238" y="707384"/>
            <a:ext cx="9445523" cy="169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510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OJT Learnings &amp; Skills Acquired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679209" y="2887418"/>
            <a:ext cx="3516506" cy="46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Full-Stack Integration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679209" y="3485112"/>
            <a:ext cx="8616553" cy="66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Connecting Django REST backend with a Vite-powered React frontend using TypeScript for type safety.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679209" y="4672755"/>
            <a:ext cx="3693166" cy="46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Advanced CSS &amp; UI/UX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679209" y="5270449"/>
            <a:ext cx="8616553" cy="66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Using Tailwind CSS for responsive, theme-aware interfaces with Framer Motion animations.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679209" y="6458102"/>
            <a:ext cx="3267227" cy="46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AI Orchestration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679209" y="7055796"/>
            <a:ext cx="8616553" cy="66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Designing prompts and handling streaming LLM responses from the OpenRouter API.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679209" y="8243440"/>
            <a:ext cx="3267227" cy="46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Version Control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79209" y="8841134"/>
            <a:ext cx="8616553" cy="66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Maintaining clean Git history and managing feature branches throughout development.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787281"/>
            <a:ext cx="11331921" cy="100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550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Conclusion &amp; Future Roadmap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65014"/>
            <a:ext cx="4458443" cy="49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209155"/>
            <a:ext cx="7805890" cy="188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KinaHub successfully achieved its goals as a functional, local-first e-commerce platform. For a Grade 10 student, this OJT was a </a:t>
            </a:r>
            <a:r>
              <a:rPr lang="en-US" sz="2200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transformative experience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— bridging school-level ICT and professional software engineering. It stands as proof that localized technology can empower communities.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95209" y="3219602"/>
            <a:ext cx="8214274" cy="3167510"/>
            <a:chOff x="0" y="0"/>
            <a:chExt cx="10952366" cy="42233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52353" cy="4223258"/>
            </a:xfrm>
            <a:custGeom>
              <a:avLst/>
              <a:gdLst/>
              <a:ahLst/>
              <a:cxnLst/>
              <a:rect r="r" b="b" t="t" l="l"/>
              <a:pathLst>
                <a:path h="4223258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3951097"/>
                  </a:lnTo>
                  <a:cubicBezTo>
                    <a:pt x="10952353" y="4101465"/>
                    <a:pt x="10830433" y="4223258"/>
                    <a:pt x="10680192" y="4223258"/>
                  </a:cubicBezTo>
                  <a:lnTo>
                    <a:pt x="272161" y="4223258"/>
                  </a:lnTo>
                  <a:cubicBezTo>
                    <a:pt x="121920" y="4223385"/>
                    <a:pt x="0" y="4101465"/>
                    <a:pt x="0" y="3951097"/>
                  </a:cubicBezTo>
                  <a:close/>
                </a:path>
              </a:pathLst>
            </a:custGeom>
            <a:solidFill>
              <a:srgbClr val="6296FF">
                <a:alpha val="90196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578731" y="3465014"/>
            <a:ext cx="5349183" cy="49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Future Recommendations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78731" y="4209155"/>
            <a:ext cx="7647232" cy="207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2851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Real-time Notifications:</a:t>
            </a: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WebSockets to alert sellers of new orders</a:t>
            </a:r>
          </a:p>
          <a:p>
            <a:pPr algn="l" marL="530860" indent="-265430" lvl="1">
              <a:lnSpc>
                <a:spcPts val="2851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PWA Features:</a:t>
            </a: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Offline shopping and push notifications</a:t>
            </a:r>
          </a:p>
          <a:p>
            <a:pPr algn="l" marL="530860" indent="-265430" lvl="1">
              <a:lnSpc>
                <a:spcPts val="2851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Enhanced AI:</a:t>
            </a: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Specialized model trained on local product data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238" y="6706048"/>
            <a:ext cx="16303523" cy="1388859"/>
            <a:chOff x="0" y="0"/>
            <a:chExt cx="21738031" cy="18518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37955" cy="1851787"/>
            </a:xfrm>
            <a:custGeom>
              <a:avLst/>
              <a:gdLst/>
              <a:ahLst/>
              <a:cxnLst/>
              <a:rect r="r" b="b" t="t" l="l"/>
              <a:pathLst>
                <a:path h="1851787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693037"/>
                  </a:lnTo>
                  <a:cubicBezTo>
                    <a:pt x="21737955" y="1780667"/>
                    <a:pt x="21666836" y="1851787"/>
                    <a:pt x="21579205" y="1851787"/>
                  </a:cubicBezTo>
                  <a:lnTo>
                    <a:pt x="158750" y="1851787"/>
                  </a:lnTo>
                  <a:cubicBezTo>
                    <a:pt x="71120" y="1851787"/>
                    <a:pt x="0" y="1780667"/>
                    <a:pt x="0" y="1693037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75750" y="7069484"/>
            <a:ext cx="354359" cy="283521"/>
            <a:chOff x="0" y="0"/>
            <a:chExt cx="472478" cy="3780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1" r="-8" b="-65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913630" y="6993884"/>
            <a:ext cx="15098611" cy="77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report is approved for partial fulfillment of Grade 10 Computer Engineering — Shivapuri Secondary School · Certified by Er. Sagun Babu Adhikari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DAHMtagLuRw</dc:identifier>
  <dcterms:modified xsi:type="dcterms:W3CDTF">2011-08-01T06:04:30Z</dcterms:modified>
  <cp:revision>1</cp:revision>
  <dc:title>OJT Learnings &amp; Skills Acquired</dc:title>
</cp:coreProperties>
</file>